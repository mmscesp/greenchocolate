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pic>
        <p:nvPicPr>
          <p:cNvPr id="3" name="Image 0" descr="C:\Users\ousss\Projects\SCM\public\images\hero\barcelona-skyline-mobile.webp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rcRect l="0" r="0" t="8333" b="8333"/>
          <a:stretch/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91018">
              <a:alpha val="62000"/>
            </a:srgbClr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320">
              <a:alpha val="38000"/>
            </a:srgbClr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685800"/>
            <a:ext cx="6217920" cy="0"/>
          </a:xfrm>
          <a:prstGeom prst="line">
            <a:avLst/>
          </a:prstGeom>
          <a:noFill/>
          <a:ln w="12700">
            <a:solidFill>
              <a:srgbClr val="2B415A">
                <a:alpha val="7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8430768"/>
            <a:ext cx="6217920" cy="0"/>
          </a:xfrm>
          <a:prstGeom prst="line">
            <a:avLst/>
          </a:prstGeom>
          <a:noFill/>
          <a:ln w="12700">
            <a:solidFill>
              <a:srgbClr val="2B415A">
                <a:alpha val="75000"/>
              </a:srgbClr>
            </a:solidFill>
            <a:prstDash val="solid"/>
          </a:ln>
        </p:spPr>
      </p:sp>
      <p:pic>
        <p:nvPicPr>
          <p:cNvPr id="8" name="Image 1" descr="C:\Users\ousss\Projects\SCM\public\images\SCM_Logo_SVG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25603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834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SOCIALCLUBSMAPS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059936" y="28346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Independent. Verified. Built for people who want to do this right.</a:t>
            </a:r>
            <a:endParaRPr lang="en-US" sz="760" dirty="0"/>
          </a:p>
        </p:txBody>
      </p:sp>
      <p:sp>
        <p:nvSpPr>
          <p:cNvPr id="11" name="Text 7"/>
          <p:cNvSpPr/>
          <p:nvPr/>
        </p:nvSpPr>
        <p:spPr>
          <a:xfrm>
            <a:off x="658368" y="1005840"/>
            <a:ext cx="1737360" cy="310896"/>
          </a:xfrm>
          <a:prstGeom prst="rect">
            <a:avLst/>
          </a:prstGeom>
          <a:solidFill>
            <a:srgbClr val="00C9B1">
              <a:alpha val="94000"/>
            </a:srgbClr>
          </a:solidFill>
          <a:ln>
            <a:solidFill>
              <a:srgbClr val="00C9B1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BARCELONA • WEEK 1 LAUNCH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58368" y="19202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Barcelona has clubs.</a:t>
            </a:r>
            <a:endParaRPr lang="en-US" sz="2550" dirty="0"/>
          </a:p>
          <a:p>
            <a:pPr indent="0" marL="0">
              <a:buNone/>
            </a:pPr>
            <a:r>
              <a:rPr lang="en-US" sz="255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Most people get the</a:t>
            </a:r>
            <a:endParaRPr lang="en-US" sz="2550" dirty="0"/>
          </a:p>
          <a:p>
            <a:pPr indent="0" marL="0">
              <a:buNone/>
            </a:pPr>
            <a:r>
              <a:rPr lang="en-US" sz="255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legal reality wrong.</a:t>
            </a:r>
            <a:endParaRPr lang="en-US" sz="2550" dirty="0"/>
          </a:p>
        </p:txBody>
      </p:sp>
      <p:sp>
        <p:nvSpPr>
          <p:cNvPr id="13" name="Text 9"/>
          <p:cNvSpPr/>
          <p:nvPr/>
        </p:nvSpPr>
        <p:spPr>
          <a:xfrm>
            <a:off x="685800" y="45262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E7D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That is exactly why SocialClubsMaps exists.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85800" y="49377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 for hype. Not for shortcuts. For visitors who want clarity, context, and a better filter before they trust anything.</a:t>
            </a:r>
            <a:endParaRPr lang="en-US" sz="1120" dirty="0"/>
          </a:p>
        </p:txBody>
      </p:sp>
      <p:sp>
        <p:nvSpPr>
          <p:cNvPr id="15" name="Shape 11"/>
          <p:cNvSpPr/>
          <p:nvPr/>
        </p:nvSpPr>
        <p:spPr>
          <a:xfrm>
            <a:off x="685800" y="6537960"/>
            <a:ext cx="3291840" cy="914400"/>
          </a:xfrm>
          <a:prstGeom prst="roundRect">
            <a:avLst>
              <a:gd name="adj" fmla="val 14000"/>
            </a:avLst>
          </a:prstGeom>
          <a:solidFill>
            <a:srgbClr val="112131">
              <a:alpha val="88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96112" y="6793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it right, not fast.</a:t>
            </a:r>
            <a:endParaRPr lang="en-US" sz="1340" dirty="0"/>
          </a:p>
        </p:txBody>
      </p:sp>
      <p:sp>
        <p:nvSpPr>
          <p:cNvPr id="17" name="Text 13"/>
          <p:cNvSpPr/>
          <p:nvPr/>
        </p:nvSpPr>
        <p:spPr>
          <a:xfrm>
            <a:off x="896112" y="7068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Launching officially today.</a:t>
            </a:r>
            <a:endParaRPr lang="en-US" sz="880" dirty="0"/>
          </a:p>
        </p:txBody>
      </p:sp>
      <p:sp>
        <p:nvSpPr>
          <p:cNvPr id="18" name="Text 14"/>
          <p:cNvSpPr/>
          <p:nvPr/>
        </p:nvSpPr>
        <p:spPr>
          <a:xfrm>
            <a:off x="594360" y="8522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4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06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353312" y="8503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Read before you trust the wrong source.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852160" y="84856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3C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4/20 launch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85800"/>
            <a:ext cx="6217920" cy="0"/>
          </a:xfrm>
          <a:prstGeom prst="line">
            <a:avLst/>
          </a:prstGeom>
          <a:noFill/>
          <a:ln w="12700">
            <a:solidFill>
              <a:srgbClr val="2B415A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430768"/>
            <a:ext cx="6217920" cy="0"/>
          </a:xfrm>
          <a:prstGeom prst="line">
            <a:avLst/>
          </a:prstGeom>
          <a:noFill/>
          <a:ln w="12700">
            <a:solidFill>
              <a:srgbClr val="2B415A">
                <a:alpha val="75000"/>
              </a:srgbClr>
            </a:solidFill>
            <a:prstDash val="solid"/>
          </a:ln>
        </p:spPr>
      </p:sp>
      <p:pic>
        <p:nvPicPr>
          <p:cNvPr id="5" name="Image 0" descr="C:\Users\ousss\Projects\SCM\public\images\SCM_Logo_SVG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256032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2834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SOCIALCLUBSMAPS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059936" y="28346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Independent. Verified. Built for people who want to do this right.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658368" y="987552"/>
            <a:ext cx="1600200" cy="310896"/>
          </a:xfrm>
          <a:prstGeom prst="rect">
            <a:avLst/>
          </a:prstGeom>
          <a:solidFill>
            <a:srgbClr val="E7A63B">
              <a:alpha val="94000"/>
            </a:srgbClr>
          </a:solidFill>
          <a:ln>
            <a:solidFill>
              <a:srgbClr val="E7A63B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PEOPLE GET IT WRONG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1645920"/>
            <a:ext cx="4160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Most advice online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collapses three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different things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76656" y="4114800"/>
            <a:ext cx="1938528" cy="1920240"/>
          </a:xfrm>
          <a:prstGeom prst="roundRect">
            <a:avLst>
              <a:gd name="adj" fmla="val 5714"/>
            </a:avLst>
          </a:prstGeom>
          <a:solidFill>
            <a:srgbClr val="17283C">
              <a:alpha val="94000"/>
            </a:srgbClr>
          </a:solidFill>
          <a:ln w="12700">
            <a:solidFill>
              <a:srgbClr val="2B415A">
                <a:alpha val="82000"/>
              </a:srgbClr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" y="4279392"/>
            <a:ext cx="201168" cy="201168"/>
          </a:xfrm>
          <a:prstGeom prst="roundRect">
            <a:avLst>
              <a:gd name="adj" fmla="val 36364"/>
            </a:avLst>
          </a:prstGeom>
          <a:solidFill>
            <a:srgbClr val="00C9B1"/>
          </a:solidFill>
          <a:ln w="12700">
            <a:solidFill>
              <a:srgbClr val="00C9B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42336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Law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" y="4681728"/>
            <a:ext cx="1618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Spanish law actually says, and where the risk begins.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2697480" y="4114800"/>
            <a:ext cx="1938528" cy="1920240"/>
          </a:xfrm>
          <a:prstGeom prst="roundRect">
            <a:avLst>
              <a:gd name="adj" fmla="val 5714"/>
            </a:avLst>
          </a:prstGeom>
          <a:solidFill>
            <a:srgbClr val="17283C">
              <a:alpha val="94000"/>
            </a:srgbClr>
          </a:solidFill>
          <a:ln w="12700">
            <a:solidFill>
              <a:srgbClr val="2B415A">
                <a:alpha val="82000"/>
              </a:srgbClr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862072" y="4279392"/>
            <a:ext cx="201168" cy="201168"/>
          </a:xfrm>
          <a:prstGeom prst="roundRect">
            <a:avLst>
              <a:gd name="adj" fmla="val 36364"/>
            </a:avLst>
          </a:prstGeom>
          <a:solidFill>
            <a:srgbClr val="E7A63B"/>
          </a:solidFill>
          <a:ln w="12700">
            <a:solidFill>
              <a:srgbClr val="E7A63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54680" y="42336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Practice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862072" y="4681728"/>
            <a:ext cx="1618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clubs, locals, and police often treat as normal.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4718304" y="4114800"/>
            <a:ext cx="1938528" cy="1920240"/>
          </a:xfrm>
          <a:prstGeom prst="roundRect">
            <a:avLst>
              <a:gd name="adj" fmla="val 5714"/>
            </a:avLst>
          </a:prstGeom>
          <a:solidFill>
            <a:srgbClr val="17283C">
              <a:alpha val="94000"/>
            </a:srgbClr>
          </a:solidFill>
          <a:ln w="12700">
            <a:solidFill>
              <a:srgbClr val="2B415A">
                <a:alpha val="82000"/>
              </a:srgbClr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82896" y="4279392"/>
            <a:ext cx="201168" cy="201168"/>
          </a:xfrm>
          <a:prstGeom prst="roundRect">
            <a:avLst>
              <a:gd name="adj" fmla="val 36364"/>
            </a:avLst>
          </a:prstGeom>
          <a:solidFill>
            <a:srgbClr val="A8A555"/>
          </a:solidFill>
          <a:ln w="12700">
            <a:solidFill>
              <a:srgbClr val="A8A555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75504" y="42336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Policy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82896" y="4681728"/>
            <a:ext cx="1618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one specific club decides to allow, reject, or require.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1627632" y="6254496"/>
            <a:ext cx="3977640" cy="0"/>
          </a:xfrm>
          <a:prstGeom prst="line">
            <a:avLst/>
          </a:prstGeom>
          <a:noFill/>
          <a:ln w="12700">
            <a:solidFill>
              <a:srgbClr val="2B415A">
                <a:alpha val="7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647395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When people confuse those three, they either get overconfident or get played.</a:t>
            </a:r>
            <a:endParaRPr lang="en-US" sz="1260" dirty="0"/>
          </a:p>
        </p:txBody>
      </p:sp>
      <p:sp>
        <p:nvSpPr>
          <p:cNvPr id="24" name="Text 21"/>
          <p:cNvSpPr/>
          <p:nvPr/>
        </p:nvSpPr>
        <p:spPr>
          <a:xfrm>
            <a:off x="594360" y="8522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4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06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353312" y="8503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point is not fear. The point is a better read.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852160" y="84856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3C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4/20 launch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pic>
        <p:nvPicPr>
          <p:cNvPr id="3" name="Image 0" descr="C:\Users\ousss\Projects\SCM\public\images\editorial\spain-legal-flags.webp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rcRect l="0" r="0" t="8333" b="8333"/>
          <a:stretch/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91018">
              <a:alpha val="25000"/>
            </a:srgbClr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320">
              <a:alpha val="18000"/>
            </a:srgbClr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685800"/>
            <a:ext cx="6217920" cy="0"/>
          </a:xfrm>
          <a:prstGeom prst="line">
            <a:avLst/>
          </a:prstGeom>
          <a:noFill/>
          <a:ln w="12700">
            <a:solidFill>
              <a:srgbClr val="2B415A">
                <a:alpha val="7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8430768"/>
            <a:ext cx="6217920" cy="0"/>
          </a:xfrm>
          <a:prstGeom prst="line">
            <a:avLst/>
          </a:prstGeom>
          <a:noFill/>
          <a:ln w="12700">
            <a:solidFill>
              <a:srgbClr val="2B415A">
                <a:alpha val="75000"/>
              </a:srgbClr>
            </a:solidFill>
            <a:prstDash val="solid"/>
          </a:ln>
        </p:spPr>
      </p:sp>
      <p:pic>
        <p:nvPicPr>
          <p:cNvPr id="8" name="Image 1" descr="C:\Users\ousss\Projects\SCM\public\images\SCM_Logo_SVG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25603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834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SOCIALCLUBSMAPS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059936" y="28346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Independent. Verified. Built for people who want to do this right.</a:t>
            </a:r>
            <a:endParaRPr lang="en-US" sz="760" dirty="0"/>
          </a:p>
        </p:txBody>
      </p:sp>
      <p:sp>
        <p:nvSpPr>
          <p:cNvPr id="11" name="Text 7"/>
          <p:cNvSpPr/>
          <p:nvPr/>
        </p:nvSpPr>
        <p:spPr>
          <a:xfrm>
            <a:off x="658368" y="987552"/>
            <a:ext cx="1261872" cy="310896"/>
          </a:xfrm>
          <a:prstGeom prst="rect">
            <a:avLst/>
          </a:prstGeom>
          <a:solidFill>
            <a:srgbClr val="00C9B1">
              <a:alpha val="94000"/>
            </a:srgbClr>
          </a:solidFill>
          <a:ln>
            <a:solidFill>
              <a:srgbClr val="00C9B1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LEGAL REALITY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58368" y="1627632"/>
            <a:ext cx="4251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Private is not public.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Tolerated is not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risk-free.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676656" y="416052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12131">
              <a:alpha val="94000"/>
            </a:srgbClr>
          </a:solidFill>
          <a:ln w="12700">
            <a:solidFill>
              <a:srgbClr val="2B415A">
                <a:alpha val="8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" y="4325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PUBLIC-SPACE FINES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9536" y="45811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C6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EUR601-30000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59536" y="51114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commonly cited range for public possession / use</a:t>
            </a:r>
            <a:endParaRPr lang="en-US" sz="820" dirty="0"/>
          </a:p>
        </p:txBody>
      </p:sp>
      <p:sp>
        <p:nvSpPr>
          <p:cNvPr id="17" name="Shape 13"/>
          <p:cNvSpPr/>
          <p:nvPr/>
        </p:nvSpPr>
        <p:spPr>
          <a:xfrm>
            <a:off x="2724912" y="416052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12131">
              <a:alpha val="94000"/>
            </a:srgbClr>
          </a:solidFill>
          <a:ln w="12700">
            <a:solidFill>
              <a:srgbClr val="2B415A">
                <a:alpha val="8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07792" y="4325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BARCELONA 2024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907792" y="45811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E7D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30 closures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2907792" y="51114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reported first closure orders in the city's campaign</a:t>
            </a:r>
            <a:endParaRPr lang="en-US" sz="820" dirty="0"/>
          </a:p>
        </p:txBody>
      </p:sp>
      <p:sp>
        <p:nvSpPr>
          <p:cNvPr id="21" name="Shape 17"/>
          <p:cNvSpPr/>
          <p:nvPr/>
        </p:nvSpPr>
        <p:spPr>
          <a:xfrm>
            <a:off x="4773168" y="416052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12131">
              <a:alpha val="94000"/>
            </a:srgbClr>
          </a:solidFill>
          <a:ln w="12700">
            <a:solidFill>
              <a:srgbClr val="2B415A">
                <a:alpha val="8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56048" y="4325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MAIN RISK SIGNAL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956048" y="45811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7B7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commercial look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956048" y="51114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tourist-business behavior raises exposure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694944" y="65653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SCM is built to help you separate useful information from false confidence.</a:t>
            </a:r>
            <a:endParaRPr lang="en-US" sz="1160" dirty="0"/>
          </a:p>
        </p:txBody>
      </p:sp>
      <p:sp>
        <p:nvSpPr>
          <p:cNvPr id="26" name="Text 22"/>
          <p:cNvSpPr/>
          <p:nvPr/>
        </p:nvSpPr>
        <p:spPr>
          <a:xfrm>
            <a:off x="694944" y="696772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Information, not legal advice. Always verify club status independently.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594360" y="8522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4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06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353312" y="8503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Clarity first. Confidence second.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852160" y="84856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3C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4/20 launch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pic>
        <p:nvPicPr>
          <p:cNvPr id="3" name="Image 0" descr="C:\Users\ousss\Projects\SCM\public\images\editorial\barcelona-vs-amsterdam.webp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rcRect l="23333" r="23333" t="0" b="0"/>
          <a:stretch/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91018">
              <a:alpha val="52000"/>
            </a:srgbClr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320">
              <a:alpha val="40000"/>
            </a:srgbClr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685800"/>
            <a:ext cx="6217920" cy="0"/>
          </a:xfrm>
          <a:prstGeom prst="line">
            <a:avLst/>
          </a:prstGeom>
          <a:noFill/>
          <a:ln w="12700">
            <a:solidFill>
              <a:srgbClr val="2B415A">
                <a:alpha val="7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8430768"/>
            <a:ext cx="6217920" cy="0"/>
          </a:xfrm>
          <a:prstGeom prst="line">
            <a:avLst/>
          </a:prstGeom>
          <a:noFill/>
          <a:ln w="12700">
            <a:solidFill>
              <a:srgbClr val="2B415A">
                <a:alpha val="75000"/>
              </a:srgbClr>
            </a:solidFill>
            <a:prstDash val="solid"/>
          </a:ln>
        </p:spPr>
      </p:sp>
      <p:pic>
        <p:nvPicPr>
          <p:cNvPr id="8" name="Image 1" descr="C:\Users\ousss\Projects\SCM\public\images\SCM_Logo_SVG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25603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834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SOCIALCLUBSMAPS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059936" y="28346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Independent. Verified. Built for people who want to do this right.</a:t>
            </a:r>
            <a:endParaRPr lang="en-US" sz="760" dirty="0"/>
          </a:p>
        </p:txBody>
      </p:sp>
      <p:sp>
        <p:nvSpPr>
          <p:cNvPr id="11" name="Text 7"/>
          <p:cNvSpPr/>
          <p:nvPr/>
        </p:nvSpPr>
        <p:spPr>
          <a:xfrm>
            <a:off x="658368" y="987552"/>
            <a:ext cx="1901952" cy="310896"/>
          </a:xfrm>
          <a:prstGeom prst="rect">
            <a:avLst/>
          </a:prstGeom>
          <a:solidFill>
            <a:srgbClr val="E7A63B">
              <a:alpha val="94000"/>
            </a:srgbClr>
          </a:solidFill>
          <a:ln>
            <a:solidFill>
              <a:srgbClr val="E7A63B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BARCELONA IS NOT AMSTERDAM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58368" y="1508760"/>
            <a:ext cx="4160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This city sits inside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tourism pressure,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commercial pressure,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and local scrutiny.</a:t>
            </a:r>
            <a:endParaRPr lang="en-US" sz="2050" dirty="0"/>
          </a:p>
        </p:txBody>
      </p:sp>
      <p:sp>
        <p:nvSpPr>
          <p:cNvPr id="13" name="Shape 9"/>
          <p:cNvSpPr/>
          <p:nvPr/>
        </p:nvSpPr>
        <p:spPr>
          <a:xfrm>
            <a:off x="713232" y="4709160"/>
            <a:ext cx="2834640" cy="1627632"/>
          </a:xfrm>
          <a:prstGeom prst="roundRect">
            <a:avLst>
              <a:gd name="adj" fmla="val 6742"/>
            </a:avLst>
          </a:prstGeom>
          <a:solidFill>
            <a:srgbClr val="17283C">
              <a:alpha val="94000"/>
            </a:srgbClr>
          </a:solidFill>
          <a:ln w="12700">
            <a:solidFill>
              <a:srgbClr val="2B415A">
                <a:alpha val="82000"/>
              </a:srgbClr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77824" y="4873752"/>
            <a:ext cx="201168" cy="201168"/>
          </a:xfrm>
          <a:prstGeom prst="roundRect">
            <a:avLst>
              <a:gd name="adj" fmla="val 36364"/>
            </a:avLst>
          </a:prstGeom>
          <a:solidFill>
            <a:srgbClr val="F17B7B"/>
          </a:solidFill>
          <a:ln w="12700">
            <a:solidFill>
              <a:srgbClr val="F17B7B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70432" y="48280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bad content does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77824" y="527608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Turns clubs into entertainment products for passing tourists.</a:t>
            </a:r>
            <a:endParaRPr lang="en-US" sz="1020" dirty="0"/>
          </a:p>
        </p:txBody>
      </p:sp>
      <p:sp>
        <p:nvSpPr>
          <p:cNvPr id="17" name="Shape 13"/>
          <p:cNvSpPr/>
          <p:nvPr/>
        </p:nvSpPr>
        <p:spPr>
          <a:xfrm>
            <a:off x="3767328" y="4709160"/>
            <a:ext cx="2834640" cy="1627632"/>
          </a:xfrm>
          <a:prstGeom prst="roundRect">
            <a:avLst>
              <a:gd name="adj" fmla="val 6742"/>
            </a:avLst>
          </a:prstGeom>
          <a:solidFill>
            <a:srgbClr val="17283C">
              <a:alpha val="94000"/>
            </a:srgbClr>
          </a:solidFill>
          <a:ln w="12700">
            <a:solidFill>
              <a:srgbClr val="2B415A">
                <a:alpha val="82000"/>
              </a:srgbClr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931920" y="4873752"/>
            <a:ext cx="201168" cy="201168"/>
          </a:xfrm>
          <a:prstGeom prst="roundRect">
            <a:avLst>
              <a:gd name="adj" fmla="val 36364"/>
            </a:avLst>
          </a:prstGeom>
          <a:solidFill>
            <a:srgbClr val="00C9B1"/>
          </a:solidFill>
          <a:ln w="12700">
            <a:solidFill>
              <a:srgbClr val="00C9B1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224528" y="48280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better content does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931920" y="527608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Explains the city, the tension, and why discretion matters.</a:t>
            </a:r>
            <a:endParaRPr lang="en-US" sz="1020" dirty="0"/>
          </a:p>
        </p:txBody>
      </p:sp>
      <p:sp>
        <p:nvSpPr>
          <p:cNvPr id="21" name="Text 17"/>
          <p:cNvSpPr/>
          <p:nvPr/>
        </p:nvSpPr>
        <p:spPr>
          <a:xfrm>
            <a:off x="713232" y="69037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That is the lane SCM is choosing from day one.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94360" y="8522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4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06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353312" y="8503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category does not need more hype.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852160" y="84856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3C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4/20 launch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pic>
        <p:nvPicPr>
          <p:cNvPr id="3" name="Image 0" descr="C:\Users\ousss\Projects\SCM\public\images\cities\barcelona-city.webp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rcRect l="23333" r="23333" t="0" b="0"/>
          <a:stretch/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91018">
              <a:alpha val="22000"/>
            </a:srgbClr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320">
              <a:alpha val="18000"/>
            </a:srgbClr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685800"/>
            <a:ext cx="6217920" cy="0"/>
          </a:xfrm>
          <a:prstGeom prst="line">
            <a:avLst/>
          </a:prstGeom>
          <a:noFill/>
          <a:ln w="12700">
            <a:solidFill>
              <a:srgbClr val="2B415A">
                <a:alpha val="7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8430768"/>
            <a:ext cx="6217920" cy="0"/>
          </a:xfrm>
          <a:prstGeom prst="line">
            <a:avLst/>
          </a:prstGeom>
          <a:noFill/>
          <a:ln w="12700">
            <a:solidFill>
              <a:srgbClr val="2B415A">
                <a:alpha val="75000"/>
              </a:srgbClr>
            </a:solidFill>
            <a:prstDash val="solid"/>
          </a:ln>
        </p:spPr>
      </p:sp>
      <p:pic>
        <p:nvPicPr>
          <p:cNvPr id="8" name="Image 1" descr="C:\Users\ousss\Projects\SCM\public\images\SCM_Logo_SVG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25603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834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SOCIALCLUBSMAPS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059936" y="28346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Independent. Verified. Built for people who want to do this right.</a:t>
            </a:r>
            <a:endParaRPr lang="en-US" sz="760" dirty="0"/>
          </a:p>
        </p:txBody>
      </p:sp>
      <p:sp>
        <p:nvSpPr>
          <p:cNvPr id="11" name="Text 7"/>
          <p:cNvSpPr/>
          <p:nvPr/>
        </p:nvSpPr>
        <p:spPr>
          <a:xfrm>
            <a:off x="658368" y="987552"/>
            <a:ext cx="1143000" cy="310896"/>
          </a:xfrm>
          <a:prstGeom prst="rect">
            <a:avLst/>
          </a:prstGeom>
          <a:solidFill>
            <a:srgbClr val="00C9B1">
              <a:alpha val="94000"/>
            </a:srgbClr>
          </a:solidFill>
          <a:ln>
            <a:solidFill>
              <a:srgbClr val="00C9B1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SCM EXISTS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58368" y="1627632"/>
            <a:ext cx="4114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small verified set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beats a giant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unvetted list.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694944" y="4160520"/>
            <a:ext cx="2852928" cy="1490472"/>
          </a:xfrm>
          <a:prstGeom prst="roundRect">
            <a:avLst>
              <a:gd name="adj" fmla="val 7362"/>
            </a:avLst>
          </a:prstGeom>
          <a:solidFill>
            <a:srgbClr val="17283C">
              <a:alpha val="94000"/>
            </a:srgbClr>
          </a:solidFill>
          <a:ln w="12700">
            <a:solidFill>
              <a:srgbClr val="2B415A">
                <a:alpha val="82000"/>
              </a:srgbClr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9536" y="4325112"/>
            <a:ext cx="201168" cy="201168"/>
          </a:xfrm>
          <a:prstGeom prst="roundRect">
            <a:avLst>
              <a:gd name="adj" fmla="val 36364"/>
            </a:avLst>
          </a:prstGeom>
          <a:solidFill>
            <a:srgbClr val="00C9B1"/>
          </a:solidFill>
          <a:ln w="12700">
            <a:solidFill>
              <a:srgbClr val="00C9B1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52144" y="427939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Registry &amp; statutes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59536" y="4727448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Does the club still look like a private association, not a public-facing shop?</a:t>
            </a:r>
            <a:endParaRPr lang="en-US" sz="1020" dirty="0"/>
          </a:p>
        </p:txBody>
      </p:sp>
      <p:sp>
        <p:nvSpPr>
          <p:cNvPr id="17" name="Shape 13"/>
          <p:cNvSpPr/>
          <p:nvPr/>
        </p:nvSpPr>
        <p:spPr>
          <a:xfrm>
            <a:off x="3730752" y="4160520"/>
            <a:ext cx="2852928" cy="1490472"/>
          </a:xfrm>
          <a:prstGeom prst="roundRect">
            <a:avLst>
              <a:gd name="adj" fmla="val 7362"/>
            </a:avLst>
          </a:prstGeom>
          <a:solidFill>
            <a:srgbClr val="17283C">
              <a:alpha val="94000"/>
            </a:srgbClr>
          </a:solidFill>
          <a:ln w="12700">
            <a:solidFill>
              <a:srgbClr val="2B415A">
                <a:alpha val="82000"/>
              </a:srgbClr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95344" y="4325112"/>
            <a:ext cx="201168" cy="201168"/>
          </a:xfrm>
          <a:prstGeom prst="roundRect">
            <a:avLst>
              <a:gd name="adj" fmla="val 36364"/>
            </a:avLst>
          </a:prstGeom>
          <a:solidFill>
            <a:srgbClr val="E7A63B"/>
          </a:solidFill>
          <a:ln w="12700">
            <a:solidFill>
              <a:srgbClr val="E7A63B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187952" y="427939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Physical &amp; access posture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895344" y="4727448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Does the place behave with discretion, controlled access, and basic seriousness?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94944" y="5879592"/>
            <a:ext cx="2852928" cy="1490472"/>
          </a:xfrm>
          <a:prstGeom prst="roundRect">
            <a:avLst>
              <a:gd name="adj" fmla="val 7362"/>
            </a:avLst>
          </a:prstGeom>
          <a:solidFill>
            <a:srgbClr val="17283C">
              <a:alpha val="94000"/>
            </a:srgbClr>
          </a:solidFill>
          <a:ln w="12700">
            <a:solidFill>
              <a:srgbClr val="2B415A">
                <a:alpha val="82000"/>
              </a:srgbClr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59536" y="6044184"/>
            <a:ext cx="201168" cy="201168"/>
          </a:xfrm>
          <a:prstGeom prst="roundRect">
            <a:avLst>
              <a:gd name="adj" fmla="val 36364"/>
            </a:avLst>
          </a:prstGeom>
          <a:solidFill>
            <a:srgbClr val="A8A555"/>
          </a:solidFill>
          <a:ln w="12700">
            <a:solidFill>
              <a:srgbClr val="A8A555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52144" y="599846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Onboarding sanity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59536" y="644652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Does the process feel responsible, or does it scream shortcut culture?</a:t>
            </a:r>
            <a:endParaRPr lang="en-US" sz="1020" dirty="0"/>
          </a:p>
        </p:txBody>
      </p:sp>
      <p:sp>
        <p:nvSpPr>
          <p:cNvPr id="25" name="Shape 21"/>
          <p:cNvSpPr/>
          <p:nvPr/>
        </p:nvSpPr>
        <p:spPr>
          <a:xfrm>
            <a:off x="3730752" y="5879592"/>
            <a:ext cx="2852928" cy="1490472"/>
          </a:xfrm>
          <a:prstGeom prst="roundRect">
            <a:avLst>
              <a:gd name="adj" fmla="val 7362"/>
            </a:avLst>
          </a:prstGeom>
          <a:solidFill>
            <a:srgbClr val="17283C">
              <a:alpha val="94000"/>
            </a:srgbClr>
          </a:solidFill>
          <a:ln w="12700">
            <a:solidFill>
              <a:srgbClr val="2B415A">
                <a:alpha val="82000"/>
              </a:srgbClr>
            </a:solidFill>
            <a:prstDash val="solid"/>
          </a:ln>
          <a:effectLst>
            <a:outerShdw sx="100000" sy="100000" kx="0" ky="0" algn="bl" rotWithShape="0" blurRad="15240" dist="15240" dir="2700000">
              <a:srgbClr val="000000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895344" y="6044184"/>
            <a:ext cx="201168" cy="201168"/>
          </a:xfrm>
          <a:prstGeom prst="roundRect">
            <a:avLst>
              <a:gd name="adj" fmla="val 36364"/>
            </a:avLst>
          </a:prstGeom>
          <a:solidFill>
            <a:srgbClr val="6BE7D7"/>
          </a:solidFill>
          <a:ln w="12700">
            <a:solidFill>
              <a:srgbClr val="6BE7D7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187952" y="599846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Ongoing trust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3895344" y="644652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Would we still feel good sending a careful visitor there tomorrow?</a:t>
            </a:r>
            <a:endParaRPr lang="en-US" sz="1020" dirty="0"/>
          </a:p>
        </p:txBody>
      </p:sp>
      <p:sp>
        <p:nvSpPr>
          <p:cNvPr id="29" name="Text 25"/>
          <p:cNvSpPr/>
          <p:nvPr/>
        </p:nvSpPr>
        <p:spPr>
          <a:xfrm>
            <a:off x="594360" y="8522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4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06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353312" y="8503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Selected, never bought.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852160" y="84856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3C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4/20 launch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pic>
        <p:nvPicPr>
          <p:cNvPr id="3" name="Image 0" descr="C:\Users\ousss\Projects\SCM\public\images\hero\barcelona-skyline-mobile.webp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rcRect l="0" r="0" t="8333" b="8333"/>
          <a:stretch/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91018">
              <a:alpha val="54000"/>
            </a:srgbClr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320">
              <a:alpha val="40000"/>
            </a:srgbClr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685800"/>
            <a:ext cx="6217920" cy="0"/>
          </a:xfrm>
          <a:prstGeom prst="line">
            <a:avLst/>
          </a:prstGeom>
          <a:noFill/>
          <a:ln w="12700">
            <a:solidFill>
              <a:srgbClr val="2B415A">
                <a:alpha val="7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8430768"/>
            <a:ext cx="6217920" cy="0"/>
          </a:xfrm>
          <a:prstGeom prst="line">
            <a:avLst/>
          </a:prstGeom>
          <a:noFill/>
          <a:ln w="12700">
            <a:solidFill>
              <a:srgbClr val="2B415A">
                <a:alpha val="75000"/>
              </a:srgbClr>
            </a:solidFill>
            <a:prstDash val="solid"/>
          </a:ln>
        </p:spPr>
      </p:sp>
      <p:pic>
        <p:nvPicPr>
          <p:cNvPr id="8" name="Image 1" descr="C:\Users\ousss\Projects\SCM\public\images\SCM_Logo_SVG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25603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834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SOCIALCLUBSMAPS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059936" y="28346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Independent. Verified. Built for people who want to do this right.</a:t>
            </a:r>
            <a:endParaRPr lang="en-US" sz="760" dirty="0"/>
          </a:p>
        </p:txBody>
      </p:sp>
      <p:sp>
        <p:nvSpPr>
          <p:cNvPr id="11" name="Text 7"/>
          <p:cNvSpPr/>
          <p:nvPr/>
        </p:nvSpPr>
        <p:spPr>
          <a:xfrm>
            <a:off x="658368" y="987552"/>
            <a:ext cx="1042416" cy="310896"/>
          </a:xfrm>
          <a:prstGeom prst="rect">
            <a:avLst/>
          </a:prstGeom>
          <a:solidFill>
            <a:srgbClr val="E7A63B">
              <a:alpha val="94000"/>
            </a:srgbClr>
          </a:solidFill>
          <a:ln>
            <a:solidFill>
              <a:srgbClr val="E7A63B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OFFICIAL LAUNCH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58368" y="1682496"/>
            <a:ext cx="4041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Launching officially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today.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5F7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4/20 felt fitting.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694944" y="44805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 Barcelona is on your radar, start with the map built for people who want to do this right, not fast.</a:t>
            </a:r>
            <a:endParaRPr lang="en-US" sz="1260" dirty="0"/>
          </a:p>
        </p:txBody>
      </p:sp>
      <p:sp>
        <p:nvSpPr>
          <p:cNvPr id="14" name="Shape 10"/>
          <p:cNvSpPr/>
          <p:nvPr/>
        </p:nvSpPr>
        <p:spPr>
          <a:xfrm>
            <a:off x="694944" y="5806440"/>
            <a:ext cx="3977640" cy="1207008"/>
          </a:xfrm>
          <a:prstGeom prst="roundRect">
            <a:avLst>
              <a:gd name="adj" fmla="val 10606"/>
            </a:avLst>
          </a:prstGeom>
          <a:solidFill>
            <a:srgbClr val="112131">
              <a:alpha val="92000"/>
            </a:srgbClr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3970" dist="13970" dir="2700000">
              <a:srgbClr val="000000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32688" y="6108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socialclubsmaps.com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32688" y="64556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Start with the Safety Kit. Then move smarter.</a:t>
            </a:r>
            <a:endParaRPr lang="en-US" sz="920" dirty="0"/>
          </a:p>
        </p:txBody>
      </p:sp>
      <p:sp>
        <p:nvSpPr>
          <p:cNvPr id="17" name="Text 13"/>
          <p:cNvSpPr/>
          <p:nvPr/>
        </p:nvSpPr>
        <p:spPr>
          <a:xfrm>
            <a:off x="5166360" y="74066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EA4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@socialclubsmaps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594360" y="8522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4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06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353312" y="8503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4B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Built for people who want a better filter.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852160" y="84856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3C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4/20 launch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SocialClubsMaps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Barcelona has clubs. Most people get the legal reality wrong.</dc:title>
  <dc:subject>SCM Week 1 launch carousel</dc:subject>
  <dc:creator>OpenAI Codex</dc:creator>
  <cp:lastModifiedBy>OpenAI Codex</cp:lastModifiedBy>
  <cp:revision>1</cp:revision>
  <dcterms:created xsi:type="dcterms:W3CDTF">2026-04-20T08:49:06Z</dcterms:created>
  <dcterms:modified xsi:type="dcterms:W3CDTF">2026-04-20T08:49:06Z</dcterms:modified>
</cp:coreProperties>
</file>